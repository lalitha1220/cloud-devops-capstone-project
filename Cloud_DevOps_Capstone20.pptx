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875030"/>
            <a:ext cx="58293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1" b="1" sz="2800">
                <a:solidFill>
                  <a:srgbClr val="0F172A"/>
                </a:solidFill>
                <a:latin typeface="Roboto"/>
              </a:rPr>
              <a:t>Cloud &amp; 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339850"/>
            <a:ext cx="20459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300">
                <a:solidFill>
                  <a:srgbClr val="475569"/>
                </a:solidFill>
                <a:latin typeface="Roboto"/>
              </a:rPr>
              <a:t>Module 6 · Day 26 – Day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885950"/>
            <a:ext cx="199262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b="1" sz="1700">
                <a:solidFill>
                  <a:srgbClr val="3730A3"/>
                </a:solidFill>
                <a:latin typeface="Roboto"/>
              </a:rP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2222500"/>
            <a:ext cx="58915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1E293B"/>
                </a:solidFill>
                <a:latin typeface="Roboto"/>
              </a:rPr>
              <a:t>This capstone integrates the full DevOps lifecycle into one real-world application. The project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2419350"/>
            <a:ext cx="58623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1E293B"/>
                </a:solidFill>
                <a:latin typeface="Roboto"/>
              </a:rPr>
              <a:t>building the application, containerizing it with Docker, automating builds and deployments through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290" y="2616200"/>
            <a:ext cx="52031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1E293B"/>
                </a:solidFill>
                <a:latin typeface="Roboto"/>
              </a:rPr>
              <a:t>CI/CD pipeline, hosting it on cloud infrastructure, and monitoring it actively in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2997200"/>
            <a:ext cx="80264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250">
                <a:solidFill>
                  <a:srgbClr val="0F172A"/>
                </a:solidFill>
                <a:latin typeface="Roboto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90" y="326136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690" y="3257550"/>
            <a:ext cx="52324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1E293B"/>
                </a:solidFill>
                <a:latin typeface="Roboto"/>
              </a:rPr>
              <a:t>Develop a working application ([Web App / REST API / Microservices / SaaS prototype]).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90" y="345821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690" y="3454400"/>
            <a:ext cx="30314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1E293B"/>
                </a:solidFill>
                <a:latin typeface="Roboto"/>
              </a:rPr>
              <a:t>Containerize it using Docker and Docker Compose.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90" y="365506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90" y="3651250"/>
            <a:ext cx="33870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1E293B"/>
                </a:solidFill>
                <a:latin typeface="Roboto"/>
              </a:rPr>
              <a:t>Automate testing and deployment using a CI/CD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90" y="385191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690" y="3848100"/>
            <a:ext cx="44996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1E293B"/>
                </a:solidFill>
                <a:latin typeface="Roboto"/>
              </a:rPr>
              <a:t>Deploy on cloud infrastructure with a managed database and authentication.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90" y="404876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690" y="4044950"/>
            <a:ext cx="34544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1E293B"/>
                </a:solidFill>
                <a:latin typeface="Roboto"/>
              </a:rPr>
              <a:t>Set up monitoring and alerting for health and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290" y="4438650"/>
            <a:ext cx="138049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1700">
                <a:solidFill>
                  <a:srgbClr val="3730A3"/>
                </a:solidFill>
                <a:latin typeface="Roboto"/>
              </a:rPr>
              <a:t>2. Tech Stack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20090" y="4745990"/>
          <a:ext cx="6120129" cy="3143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9589"/>
                <a:gridCol w="4320540"/>
              </a:tblGrid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6" sz="1050">
                          <a:solidFill>
                            <a:srgbClr val="1E293B"/>
                          </a:solidFill>
                          <a:latin typeface="Roboto"/>
                        </a:rPr>
                        <a:t>Layer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solidFill>
                      <a:srgbClr val="edf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2" sz="1050">
                          <a:solidFill>
                            <a:srgbClr val="1E293B"/>
                          </a:solidFill>
                          <a:latin typeface="Roboto"/>
                        </a:rPr>
                        <a:t>Tool / Service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solidFill>
                      <a:srgbClr val="edf2ff">
                        <a:alpha val="100000"/>
                      </a:srgbClr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" sz="1050">
                          <a:solidFill>
                            <a:srgbClr val="1E293B"/>
                          </a:solidFill>
                          <a:latin typeface="Roboto"/>
                        </a:rPr>
                        <a:t>Frontend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8" sz="1050">
                          <a:solidFill>
                            <a:srgbClr val="1E293B"/>
                          </a:solidFill>
                          <a:latin typeface="Roboto"/>
                        </a:rPr>
                        <a:t>[e.g. React / HTML-CSS-JS]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6" sz="1050">
                          <a:solidFill>
                            <a:srgbClr val="1E293B"/>
                          </a:solidFill>
                          <a:latin typeface="Roboto"/>
                        </a:rPr>
                        <a:t>Backend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0" sz="1050">
                          <a:solidFill>
                            <a:srgbClr val="1E293B"/>
                          </a:solidFill>
                          <a:latin typeface="Roboto"/>
                        </a:rPr>
                        <a:t>[e.g. Node.js / Flask / Spring Boot]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3" sz="1050">
                          <a:solidFill>
                            <a:srgbClr val="1E293B"/>
                          </a:solidFill>
                          <a:latin typeface="Roboto"/>
                        </a:rPr>
                        <a:t>Database / Auth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5" sz="1050">
                          <a:solidFill>
                            <a:srgbClr val="1E293B"/>
                          </a:solidFill>
                          <a:latin typeface="Roboto"/>
                        </a:rPr>
                        <a:t>[e.g. Firebase / Supabase / AWS RDS]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4" sz="1050">
                          <a:solidFill>
                            <a:srgbClr val="1E293B"/>
                          </a:solidFill>
                          <a:latin typeface="Roboto"/>
                        </a:rPr>
                        <a:t>Containerization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0" sz="1050">
                          <a:solidFill>
                            <a:srgbClr val="1E293B"/>
                          </a:solidFill>
                          <a:latin typeface="Roboto"/>
                        </a:rPr>
                        <a:t>Docker, Docker Compose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1" sz="1050">
                          <a:solidFill>
                            <a:srgbClr val="1E293B"/>
                          </a:solidFill>
                          <a:latin typeface="Roboto"/>
                        </a:rPr>
                        <a:t>Version Control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7" sz="1050">
                          <a:solidFill>
                            <a:srgbClr val="1E293B"/>
                          </a:solidFill>
                          <a:latin typeface="Roboto"/>
                        </a:rPr>
                        <a:t>Git, GitHub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7" sz="1050">
                          <a:solidFill>
                            <a:srgbClr val="1E293B"/>
                          </a:solidFill>
                          <a:latin typeface="Roboto"/>
                        </a:rPr>
                        <a:t>CI/CD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7" sz="1050">
                          <a:solidFill>
                            <a:srgbClr val="1E293B"/>
                          </a:solidFill>
                          <a:latin typeface="Roboto"/>
                        </a:rPr>
                        <a:t>[GitHub Actions / Jenkins]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6" sz="1050">
                          <a:solidFill>
                            <a:srgbClr val="1E293B"/>
                          </a:solidFill>
                          <a:latin typeface="Roboto"/>
                        </a:rPr>
                        <a:t>Cloud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3" sz="1050">
                          <a:solidFill>
                            <a:srgbClr val="1E293B"/>
                          </a:solidFill>
                          <a:latin typeface="Roboto"/>
                        </a:rPr>
                        <a:t>[AWS / Azure / GCP / Render]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18" sz="1050">
                          <a:solidFill>
                            <a:srgbClr val="1E293B"/>
                          </a:solidFill>
                          <a:latin typeface="Roboto"/>
                        </a:rPr>
                        <a:t>Monitoring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0" sz="1050">
                          <a:solidFill>
                            <a:srgbClr val="1E293B"/>
                          </a:solidFill>
                          <a:latin typeface="Roboto"/>
                        </a:rPr>
                        <a:t>[Prometheus + Grafana / CloudWatch / UptimeRobot]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20090" y="10175240"/>
            <a:ext cx="166242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475569"/>
                </a:solidFill>
                <a:latin typeface="Roboto"/>
              </a:rPr>
              <a:t>Cloud &amp; DevOps Capstone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7320" y="10175240"/>
            <a:ext cx="34290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850">
                <a:solidFill>
                  <a:srgbClr val="475569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6173470"/>
            <a:ext cx="612013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6290" y="844550"/>
            <a:ext cx="233934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" b="1" sz="1700">
                <a:solidFill>
                  <a:srgbClr val="3730A3"/>
                </a:solidFill>
                <a:latin typeface="Roboto"/>
              </a:rPr>
              <a:t>3.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181100"/>
            <a:ext cx="55956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1E293B"/>
                </a:solidFill>
                <a:latin typeface="Roboto"/>
              </a:rPr>
              <a:t>Insert your architecture diagram here (draw.io / Lucidchart / Excalidraw), then describe the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377950"/>
            <a:ext cx="38480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050">
                <a:solidFill>
                  <a:srgbClr val="1E293B"/>
                </a:solidFill>
                <a:latin typeface="Roboto"/>
              </a:rPr>
              <a:t>below.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90" y="1621790"/>
          <a:ext cx="6120130" cy="2519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2519680">
                <a:tc>
                  <a:txBody>
                    <a:bodyPr/>
                    <a:lstStyle/>
                    <a:p>
                      <a:pPr>
                        <a:lnSpc>
                          <a:spcPts val="9320"/>
                        </a:lnSpc>
                      </a:pPr>
                    </a:p>
                    <a:p>
                      <a:pPr algn="ctr">
                        <a:lnSpc>
                          <a:spcPts val="1050"/>
                        </a:lnSpc>
                      </a:pPr>
                      <a:r>
                        <a:rPr spc="1" sz="1050">
                          <a:solidFill>
                            <a:srgbClr val="475569"/>
                          </a:solidFill>
                          <a:latin typeface="Roboto"/>
                        </a:rPr>
                        <a:t>[ Architecture Diagram ]</a:t>
                      </a: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93a3b8">
                          <a:alpha val="100000"/>
                        </a:srgbClr>
                      </a:solidFill>
                    </a:lnL>
                    <a:lnR w="6350" cap="flat" cmpd="sng" algn="ctr">
                      <a:solidFill>
                        <a:srgbClr val="93a3b8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93a3b8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93a3b8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4246880"/>
            <a:ext cx="596773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050">
                <a:solidFill>
                  <a:srgbClr val="1E293B"/>
                </a:solidFill>
                <a:latin typeface="Roboto"/>
              </a:rPr>
              <a:t>Typical flow: Developer </a:t>
            </a:r>
            <a:r>
              <a:rPr spc="-20" sz="1050">
                <a:solidFill>
                  <a:srgbClr val="1E293B"/>
                </a:solidFill>
                <a:latin typeface="Noto Sans Symbols"/>
              </a:rPr>
              <a:t>→</a:t>
            </a:r>
            <a:r>
              <a:rPr spc="12" sz="1050">
                <a:solidFill>
                  <a:srgbClr val="1E293B"/>
                </a:solidFill>
                <a:latin typeface="Roboto"/>
              </a:rPr>
              <a:t> GitHub </a:t>
            </a:r>
            <a:r>
              <a:rPr spc="-10" sz="1050">
                <a:solidFill>
                  <a:srgbClr val="1E293B"/>
                </a:solidFill>
                <a:latin typeface="Noto Sans Symbols"/>
              </a:rPr>
              <a:t>→</a:t>
            </a:r>
            <a:r>
              <a:rPr spc="12" sz="1050">
                <a:solidFill>
                  <a:srgbClr val="1E293B"/>
                </a:solidFill>
                <a:latin typeface="Roboto"/>
              </a:rPr>
              <a:t> CI/CD Pipeline </a:t>
            </a:r>
            <a:r>
              <a:rPr spc="-11" sz="1050">
                <a:solidFill>
                  <a:srgbClr val="1E293B"/>
                </a:solidFill>
                <a:latin typeface="Noto Sans Symbols"/>
              </a:rPr>
              <a:t>→</a:t>
            </a:r>
            <a:r>
              <a:rPr spc="8" sz="1050">
                <a:solidFill>
                  <a:srgbClr val="1E293B"/>
                </a:solidFill>
                <a:latin typeface="Roboto"/>
              </a:rPr>
              <a:t> Docker Image </a:t>
            </a:r>
            <a:r>
              <a:rPr spc="-20" sz="1050">
                <a:solidFill>
                  <a:srgbClr val="1E293B"/>
                </a:solidFill>
                <a:latin typeface="Noto Sans Symbols"/>
              </a:rPr>
              <a:t>→</a:t>
            </a:r>
            <a:r>
              <a:rPr spc="8" sz="1050">
                <a:solidFill>
                  <a:srgbClr val="1E293B"/>
                </a:solidFill>
                <a:latin typeface="Roboto"/>
              </a:rPr>
              <a:t> Container Registry </a:t>
            </a:r>
            <a:r>
              <a:rPr spc="-10" sz="1050">
                <a:solidFill>
                  <a:srgbClr val="1E293B"/>
                </a:solidFill>
                <a:latin typeface="Noto Sans Symbols"/>
              </a:rPr>
              <a:t>→</a:t>
            </a:r>
            <a:r>
              <a:rPr spc="10" sz="1050">
                <a:solidFill>
                  <a:srgbClr val="1E293B"/>
                </a:solidFill>
                <a:latin typeface="Roboto"/>
              </a:rPr>
              <a:t>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4443730"/>
            <a:ext cx="37338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3" sz="1050">
                <a:solidFill>
                  <a:srgbClr val="1E293B"/>
                </a:solidFill>
                <a:latin typeface="Roboto"/>
              </a:rPr>
              <a:t>Server </a:t>
            </a:r>
            <a:r>
              <a:rPr spc="-10" sz="1050">
                <a:solidFill>
                  <a:srgbClr val="1E293B"/>
                </a:solidFill>
                <a:latin typeface="Noto Sans Symbols"/>
              </a:rPr>
              <a:t>→</a:t>
            </a:r>
            <a:r>
              <a:rPr spc="1" sz="1050">
                <a:solidFill>
                  <a:srgbClr val="1E293B"/>
                </a:solidFill>
                <a:latin typeface="Roboto"/>
              </a:rPr>
              <a:t> Users, with Monitoring observing the running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4837430"/>
            <a:ext cx="248285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700">
                <a:solidFill>
                  <a:srgbClr val="3730A3"/>
                </a:solidFill>
                <a:latin typeface="Roboto"/>
              </a:rPr>
              <a:t>4. Implementation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5205730"/>
            <a:ext cx="255778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250">
                <a:solidFill>
                  <a:srgbClr val="0F172A"/>
                </a:solidFill>
                <a:latin typeface="Roboto"/>
              </a:rPr>
              <a:t>Step 1 – Application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5466080"/>
            <a:ext cx="26238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1E293B"/>
                </a:solidFill>
                <a:latin typeface="Roboto"/>
              </a:rPr>
              <a:t>[Describe features, endpoints and structure.]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90" y="5770880"/>
            <a:ext cx="169417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3" b="1" sz="1250">
                <a:solidFill>
                  <a:srgbClr val="0F172A"/>
                </a:solidFill>
                <a:latin typeface="Roboto"/>
              </a:rPr>
              <a:t>Step 2 – Dockerization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290" y="6031230"/>
            <a:ext cx="46393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1E293B"/>
                </a:solidFill>
                <a:latin typeface="Roboto"/>
              </a:rPr>
              <a:t>Dockerfile and docker-compose.yml used to run the app and its dependencies.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" y="6278880"/>
            <a:ext cx="157734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sz="900">
                <a:solidFill>
                  <a:srgbClr val="1E293B"/>
                </a:solidFill>
                <a:latin typeface="Roboto"/>
              </a:rPr>
              <a:t>docker build -t myapp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90" y="6431280"/>
            <a:ext cx="137159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sz="900">
                <a:solidFill>
                  <a:srgbClr val="1E293B"/>
                </a:solidFill>
                <a:latin typeface="Roboto"/>
              </a:rPr>
              <a:t>docker compose up 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290" y="6691630"/>
            <a:ext cx="17373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" b="1" sz="1250">
                <a:solidFill>
                  <a:srgbClr val="0F172A"/>
                </a:solidFill>
                <a:latin typeface="Roboto"/>
              </a:rPr>
              <a:t>Step 3 – CI/CD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290" y="6951980"/>
            <a:ext cx="46316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050">
                <a:solidFill>
                  <a:srgbClr val="1E293B"/>
                </a:solidFill>
                <a:latin typeface="Roboto"/>
              </a:rPr>
              <a:t>Pipeline triggers on every push to main: install, test, build image, push, deploy.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290" y="7256780"/>
            <a:ext cx="20548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250">
                <a:solidFill>
                  <a:srgbClr val="0F172A"/>
                </a:solidFill>
                <a:latin typeface="Roboto"/>
              </a:rPr>
              <a:t>Step 4 – Cloud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290" y="7517130"/>
            <a:ext cx="42684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050">
                <a:solidFill>
                  <a:srgbClr val="1E293B"/>
                </a:solidFill>
                <a:latin typeface="Roboto"/>
              </a:rPr>
              <a:t>[Describe server/service setup, environment variables, domain, HTTPS.]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290" y="7821930"/>
            <a:ext cx="147319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1" b="1" sz="1250">
                <a:solidFill>
                  <a:srgbClr val="0F172A"/>
                </a:solidFill>
                <a:latin typeface="Roboto"/>
              </a:rPr>
              <a:t>Step 5 –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290" y="8082280"/>
            <a:ext cx="38989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1E293B"/>
                </a:solidFill>
                <a:latin typeface="Roboto"/>
              </a:rPr>
              <a:t>[Describe dashboards, uptime checks, logs and alerts configured.]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90" y="10175240"/>
            <a:ext cx="166242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475569"/>
                </a:solidFill>
                <a:latin typeface="Roboto"/>
              </a:rPr>
              <a:t>Cloud &amp; DevOps Capstone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7320" y="10175240"/>
            <a:ext cx="34290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850">
                <a:solidFill>
                  <a:srgbClr val="475569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844550"/>
            <a:ext cx="265176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b="1" sz="1700">
                <a:solidFill>
                  <a:srgbClr val="3730A3"/>
                </a:solidFill>
                <a:latin typeface="Roboto"/>
              </a:rPr>
              <a:t>5. Challenges &amp; Solutions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90" y="1151890"/>
          <a:ext cx="6120130" cy="10477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/>
                <a:gridCol w="3239770"/>
              </a:tblGrid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1" sz="1050">
                          <a:solidFill>
                            <a:srgbClr val="1E293B"/>
                          </a:solidFill>
                          <a:latin typeface="Roboto"/>
                        </a:rPr>
                        <a:t>Challenge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solidFill>
                      <a:srgbClr val="edf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6" sz="1050">
                          <a:solidFill>
                            <a:srgbClr val="1E293B"/>
                          </a:solidFill>
                          <a:latin typeface="Roboto"/>
                        </a:rPr>
                        <a:t>Solution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solidFill>
                      <a:srgbClr val="edf2ff">
                        <a:alpha val="100000"/>
                      </a:srgbClr>
                    </a:solidFill>
                  </a:tcPr>
                </a:tc>
              </a:tr>
              <a:tr h="349249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2" sz="1050">
                          <a:solidFill>
                            <a:srgbClr val="1E293B"/>
                          </a:solidFill>
                          <a:latin typeface="Roboto"/>
                        </a:rPr>
                        <a:t>[e.g. Container failed to start]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3" sz="1050">
                          <a:solidFill>
                            <a:srgbClr val="1E293B"/>
                          </a:solidFill>
                          <a:latin typeface="Roboto"/>
                        </a:rPr>
                        <a:t>[How you fixed it]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5" sz="1050">
                          <a:solidFill>
                            <a:srgbClr val="1E293B"/>
                          </a:solidFill>
                          <a:latin typeface="Roboto"/>
                        </a:rPr>
                        <a:t>[e.g. Pipeline build error]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3" sz="1050">
                          <a:solidFill>
                            <a:srgbClr val="1E293B"/>
                          </a:solidFill>
                          <a:latin typeface="Roboto"/>
                        </a:rPr>
                        <a:t>[How you fixed it]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290" y="2425700"/>
            <a:ext cx="101981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1700">
                <a:solidFill>
                  <a:srgbClr val="3730A3"/>
                </a:solidFill>
                <a:latin typeface="Roboto"/>
              </a:rPr>
              <a:t>6.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890" y="276606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690" y="2762250"/>
            <a:ext cx="32829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1E293B"/>
                </a:solidFill>
                <a:latin typeface="Roboto"/>
              </a:rPr>
              <a:t>Application is live and accessible at [Live Website Link].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890" y="296291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8690" y="2959100"/>
            <a:ext cx="30010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1E293B"/>
                </a:solidFill>
                <a:latin typeface="Roboto"/>
              </a:rPr>
              <a:t>Deployments are fully automated on every commit.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90" y="3159760"/>
            <a:ext cx="533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690" y="3155950"/>
            <a:ext cx="42087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1050">
                <a:solidFill>
                  <a:srgbClr val="1E293B"/>
                </a:solidFill>
                <a:latin typeface="Roboto"/>
              </a:rPr>
              <a:t>Monitoring confirms uptime and performance: [add screenshot/metrics].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3549650"/>
            <a:ext cx="1416049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b="1" sz="1700">
                <a:solidFill>
                  <a:srgbClr val="3730A3"/>
                </a:solidFill>
                <a:latin typeface="Roboto"/>
              </a:rPr>
              <a:t>7.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90" y="3886200"/>
            <a:ext cx="56324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1E293B"/>
                </a:solidFill>
                <a:latin typeface="Roboto"/>
              </a:rPr>
              <a:t>This project demonstrated an end-to-end DevOps workflow, integrating cloud infrastructure, Git,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290" y="4083050"/>
            <a:ext cx="53517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1E293B"/>
                </a:solidFill>
                <a:latin typeface="Roboto"/>
              </a:rPr>
              <a:t>Docker, CI/CD, monitoring and managed database/authentication into one production-style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" y="4279900"/>
            <a:ext cx="7264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1E293B"/>
                </a:solidFill>
                <a:latin typeface="Roboto"/>
              </a:rPr>
              <a:t>deployment.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90" y="4673600"/>
            <a:ext cx="279527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b="1" sz="1700">
                <a:solidFill>
                  <a:srgbClr val="3730A3"/>
                </a:solidFill>
                <a:latin typeface="Roboto"/>
              </a:rPr>
              <a:t>8. Submission Deliverables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20090" y="4980940"/>
          <a:ext cx="6120129" cy="2444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9679"/>
                <a:gridCol w="3600450"/>
              </a:tblGrid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9" sz="1050">
                          <a:solidFill>
                            <a:srgbClr val="1E293B"/>
                          </a:solidFill>
                          <a:latin typeface="Roboto"/>
                        </a:rPr>
                        <a:t>Deliverable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solidFill>
                      <a:srgbClr val="edf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3660" algn="l">
                        <a:lnSpc>
                          <a:spcPts val="1050"/>
                        </a:lnSpc>
                      </a:pPr>
                      <a:r>
                        <a:rPr spc="-1" sz="1050">
                          <a:solidFill>
                            <a:srgbClr val="1E293B"/>
                          </a:solidFill>
                          <a:latin typeface="Roboto"/>
                        </a:rPr>
                        <a:t>Link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solidFill>
                      <a:srgbClr val="edf2ff">
                        <a:alpha val="100000"/>
                      </a:srgbClr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6" sz="1050">
                          <a:solidFill>
                            <a:srgbClr val="1E293B"/>
                          </a:solidFill>
                          <a:latin typeface="Roboto"/>
                        </a:rPr>
                        <a:t>GitHub Repository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3660" algn="l">
                        <a:lnSpc>
                          <a:spcPts val="1050"/>
                        </a:lnSpc>
                      </a:pPr>
                      <a:r>
                        <a:rPr spc="-2" sz="1050">
                          <a:solidFill>
                            <a:srgbClr val="1E293B"/>
                          </a:solidFill>
                          <a:latin typeface="Roboto"/>
                        </a:rPr>
                        <a:t>[paste link]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7" sz="1050">
                          <a:solidFill>
                            <a:srgbClr val="1E293B"/>
                          </a:solidFill>
                          <a:latin typeface="Roboto"/>
                        </a:rPr>
                        <a:t>Live Website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3660" algn="l">
                        <a:lnSpc>
                          <a:spcPts val="1050"/>
                        </a:lnSpc>
                      </a:pPr>
                      <a:r>
                        <a:rPr spc="-2" sz="1050">
                          <a:solidFill>
                            <a:srgbClr val="1E293B"/>
                          </a:solidFill>
                          <a:latin typeface="Roboto"/>
                        </a:rPr>
                        <a:t>[paste link]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0" sz="1050">
                          <a:solidFill>
                            <a:srgbClr val="1E293B"/>
                          </a:solidFill>
                          <a:latin typeface="Roboto"/>
                        </a:rPr>
                        <a:t>LinkedIn Post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3660" algn="l">
                        <a:lnSpc>
                          <a:spcPts val="1050"/>
                        </a:lnSpc>
                      </a:pPr>
                      <a:r>
                        <a:rPr spc="-2" sz="1050">
                          <a:solidFill>
                            <a:srgbClr val="1E293B"/>
                          </a:solidFill>
                          <a:latin typeface="Roboto"/>
                        </a:rPr>
                        <a:t>[paste link]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2" sz="1050">
                          <a:solidFill>
                            <a:srgbClr val="1E293B"/>
                          </a:solidFill>
                          <a:latin typeface="Roboto"/>
                        </a:rPr>
                        <a:t>Docker / Compose Config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3660" algn="l">
                        <a:lnSpc>
                          <a:spcPts val="1050"/>
                        </a:lnSpc>
                      </a:pPr>
                      <a:r>
                        <a:rPr spc="-4" sz="1050">
                          <a:solidFill>
                            <a:srgbClr val="1E293B"/>
                          </a:solidFill>
                          <a:latin typeface="Roboto"/>
                        </a:rPr>
                        <a:t>In repository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9" sz="1050">
                          <a:solidFill>
                            <a:srgbClr val="1E293B"/>
                          </a:solidFill>
                          <a:latin typeface="Roboto"/>
                        </a:rPr>
                        <a:t>CI/CD Pipeline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3660" algn="l">
                        <a:lnSpc>
                          <a:spcPts val="1050"/>
                        </a:lnSpc>
                      </a:pPr>
                      <a:r>
                        <a:rPr spc="-4" sz="1050">
                          <a:solidFill>
                            <a:srgbClr val="1E293B"/>
                          </a:solidFill>
                          <a:latin typeface="Roboto"/>
                        </a:rPr>
                        <a:t>In repository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4" sz="1050">
                          <a:solidFill>
                            <a:srgbClr val="1E293B"/>
                          </a:solidFill>
                          <a:latin typeface="Roboto"/>
                        </a:rPr>
                        <a:t>Architecture Diagram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3660" algn="l">
                        <a:lnSpc>
                          <a:spcPts val="1050"/>
                        </a:lnSpc>
                      </a:pPr>
                      <a:r>
                        <a:rPr spc="2" sz="1050">
                          <a:solidFill>
                            <a:srgbClr val="1E293B"/>
                          </a:solidFill>
                          <a:latin typeface="Roboto"/>
                        </a:rPr>
                        <a:t>Section 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cad4e1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cad4e1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cad4e1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cad4e1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20090" y="10175240"/>
            <a:ext cx="1662429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850">
                <a:solidFill>
                  <a:srgbClr val="475569"/>
                </a:solidFill>
                <a:latin typeface="Roboto"/>
              </a:rPr>
              <a:t>Cloud &amp; DevOps Capstone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7320" y="10175240"/>
            <a:ext cx="34290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850">
                <a:solidFill>
                  <a:srgbClr val="475569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